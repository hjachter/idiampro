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3898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8FF"/>
                    </a:solidFill>
                    <a:latin typeface="IBM Plex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developers now use AI</c:v>
                  </c:pt>
                  <c:pt idx="1">
                    <c:v>actually trust the…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80</c:v>
                </c:pt>
                <c:pt idx="1">
                  <c:v>29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5F8FF"/>
                  </a:solidFill>
                  <a:latin typeface="IBM Plex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A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4B8"/>
                </a:solidFill>
                <a:latin typeface="IBM Plex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3898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8FF"/>
                    </a:solidFill>
                    <a:latin typeface="IBM Plex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developers use AI as</c:v>
                  </c:pt>
                  <c:pt idx="1">
                    <c:v>development is truly…</c:v>
                  </c:pt>
                  <c:pt idx="2">
                    <c:v>frontier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80</c:v>
                </c:pt>
                <c:pt idx="1">
                  <c:v>10</c:v>
                </c:pt>
                <c:pt idx="2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5F8FF"/>
                  </a:solidFill>
                  <a:latin typeface="IBM Plex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A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4B8"/>
                </a:solidFill>
                <a:latin typeface="IBM Plex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</c:v>
                </c:pt>
              </c:strCache>
            </c:strRef>
          </c:tx>
          <c:spPr>
            <a:solidFill>
              <a:srgbClr val="3898F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5F8FF"/>
                    </a:solidFill>
                    <a:latin typeface="IBM Plex Sa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AI adoption</c:v>
                  </c:pt>
                  <c:pt idx="1">
                    <c:v>trust in accuracy</c:v>
                  </c:pt>
                  <c:pt idx="2">
                    <c:v>report losing time…</c:v>
                  </c:pt>
                  <c:pt idx="3">
                    <c:v>AI as an assistant</c:v>
                  </c:pt>
                  <c:pt idx="4">
                    <c:v>development is truly…</c:v>
                  </c:pt>
                  <c:pt idx="5">
                    <c:v>frontier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29</c:v>
                </c:pt>
                <c:pt idx="2">
                  <c:v>45</c:v>
                </c:pt>
                <c:pt idx="3">
                  <c:v>80</c:v>
                </c:pt>
                <c:pt idx="4">
                  <c:v>10</c:v>
                </c:pt>
                <c:pt idx="5">
                  <c:v>15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F5F8FF"/>
                  </a:solidFill>
                  <a:latin typeface="IBM Plex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1E2A44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3A4B8"/>
                </a:solidFill>
                <a:latin typeface="IBM Plex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9855" y="0"/>
            <a:ext cx="3291840" cy="2194560"/>
          </a:xfrm>
          <a:prstGeom prst="rect">
            <a:avLst/>
          </a:prstGeom>
          <a:solidFill>
            <a:srgbClr val="0F1A3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2286000"/>
            <a:ext cx="1005840" cy="146304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14600"/>
            <a:ext cx="10728655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 Engineering — A New Class of AI App (and What Building One with AI Taught Me)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10728655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seminar for Western Washington University.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989320"/>
            <a:ext cx="384048" cy="384048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899770" y="6204387"/>
            <a:ext cx="46086" cy="768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968898" y="6150620"/>
            <a:ext cx="46086" cy="13057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1038027" y="6096853"/>
            <a:ext cx="46086" cy="18434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107156" y="6043087"/>
            <a:ext cx="46086" cy="23811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5961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Arc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40080" y="1170432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3258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to published work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78028" y="3063240"/>
            <a:ext cx="2331720" cy="1234440"/>
          </a:xfrm>
          <a:prstGeom prst="roundRect">
            <a:avLst>
              <a:gd name="adj" fmla="val 10370"/>
            </a:avLst>
          </a:prstGeom>
          <a:solidFill>
            <a:srgbClr val="0F1A30"/>
          </a:solidFill>
          <a:ln w="19050">
            <a:solidFill>
              <a:srgbClr val="389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8028" y="30632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Thought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009748" y="30632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9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3512668" y="3063240"/>
            <a:ext cx="2331720" cy="1234440"/>
          </a:xfrm>
          <a:prstGeom prst="roundRect">
            <a:avLst>
              <a:gd name="adj" fmla="val 10370"/>
            </a:avLst>
          </a:prstGeom>
          <a:solidFill>
            <a:srgbClr val="3898FF"/>
          </a:solidFill>
          <a:ln w="19050">
            <a:solidFill>
              <a:srgbClr val="3898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2668" y="30632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844388" y="30632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9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347308" y="3063240"/>
            <a:ext cx="2331720" cy="1234440"/>
          </a:xfrm>
          <a:prstGeom prst="roundRect">
            <a:avLst>
              <a:gd name="adj" fmla="val 10370"/>
            </a:avLst>
          </a:prstGeom>
          <a:solidFill>
            <a:srgbClr val="0F1A30"/>
          </a:solidFill>
          <a:ln w="19050">
            <a:solidFill>
              <a:srgbClr val="3898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7308" y="30632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679028" y="3063240"/>
            <a:ext cx="5029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89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181948" y="3063240"/>
            <a:ext cx="2331720" cy="1234440"/>
          </a:xfrm>
          <a:prstGeom prst="roundRect">
            <a:avLst>
              <a:gd name="adj" fmla="val 10370"/>
            </a:avLst>
          </a:prstGeom>
          <a:solidFill>
            <a:srgbClr val="3898FF"/>
          </a:solidFill>
          <a:ln w="19050">
            <a:solidFill>
              <a:srgbClr val="389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1948" y="3063240"/>
            <a:ext cx="2331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 A New Category — Idea Engineering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distinction that matters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&amp;ldquo;a new class&amp;rdquo; is the right frame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3. What Idea Engineering Looks Like — The Tool (IdeaM)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full arc — source to published work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Privacy-first, on-device, bring-your-own-key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universities care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 The Hook — The AI Paradox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with the contradiction everyone in the room feels but hasn't named.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the 2025 Stack Overflow Developer Survey, roughly 80% of developers now use AI in their work — yet only…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So: everyone uses it; almost nobody trusts it.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That gap is the whole talk.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do we lean on a tool we don't trust — and what would it take to close that gap?</a:t>
            </a:r>
            <a:endParaRPr lang="en-US" sz="1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12648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4. The Case Study — Building IdeaM WITH AI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honest audit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frontier — assisted vs. driven</a:t>
            </a:r>
            <a:endParaRPr lang="en-US" sz="1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12648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 Why It Works — The Discipline That Closes the Trust Gap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practices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lesson for students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6. Takeaways for the University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students &amp;amp; researchers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CS students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 the institution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7. Live Demo &amp;amp; the Mic-Drop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10911535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Show, don't tell.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IdeaM live — take a source through the arc to a produced, published piece in front of the room.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 the reveal: this entire seminar was built in IdeaM.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outline on the screen, the structure, the notes — all of it.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medium is the message.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291072"/>
            <a:ext cx="274320" cy="27432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" y="6444691"/>
            <a:ext cx="32918" cy="5486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44322" y="6406286"/>
            <a:ext cx="32918" cy="93269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93699" y="6367882"/>
            <a:ext cx="32918" cy="131674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843077" y="6329477"/>
            <a:ext cx="32918" cy="170078"/>
          </a:xfrm>
          <a:prstGeom prst="roundRect">
            <a:avLst>
              <a:gd name="adj" fmla="val 50001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62544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180015" y="625449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8. Speaker Notes / Appendix — Data &amp;amp; Sources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640080" y="1325880"/>
            <a:ext cx="1005840" cy="82296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737360"/>
            <a:ext cx="51206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Sources</a:t>
            </a:r>
            <a:pPr algn="l" marL="228600" indent="-2286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numbers at a glance</a:t>
            </a:r>
            <a:endParaRPr lang="en-US" sz="1800" dirty="0"/>
          </a:p>
        </p:txBody>
      </p:sp>
      <p:graphicFrame>
        <p:nvGraphicFramePr>
          <p:cNvPr id="13" name="Chart 0" descr=""/>
          <p:cNvGraphicFramePr/>
          <p:nvPr/>
        </p:nvGraphicFramePr>
        <p:xfrm>
          <a:off x="6126480" y="1737360"/>
          <a:ext cx="53949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898F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46888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5F8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356616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 Engineering — A New Class of AI App (and What Building One with AI Taught Me)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10048" y="4709160"/>
            <a:ext cx="365760" cy="365760"/>
          </a:xfrm>
          <a:prstGeom prst="roundRect">
            <a:avLst>
              <a:gd name="adj" fmla="val 22000"/>
            </a:avLst>
          </a:prstGeom>
          <a:solidFill>
            <a:srgbClr val="2563EB"/>
          </a:solidFill>
          <a:ln/>
        </p:spPr>
      </p:sp>
      <p:sp>
        <p:nvSpPr>
          <p:cNvPr id="6" name="Shape 4"/>
          <p:cNvSpPr/>
          <p:nvPr/>
        </p:nvSpPr>
        <p:spPr>
          <a:xfrm>
            <a:off x="5483200" y="4913986"/>
            <a:ext cx="43891" cy="7315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549036" y="4862779"/>
            <a:ext cx="43891" cy="12435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614873" y="4811573"/>
            <a:ext cx="43891" cy="175565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680710" y="4760366"/>
            <a:ext cx="43891" cy="22677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821528" y="4690872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3A4B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Made with IdeaM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IdeaM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Engineering — A New Class of AI App (and What Building One with AI Taught Me)</dc:title>
  <dc:subject>PptxGenJS Presentation</dc:subject>
  <dc:creator>IdeaM</dc:creator>
  <cp:lastModifiedBy>IdeaM</cp:lastModifiedBy>
  <cp:revision>1</cp:revision>
  <dcterms:created xsi:type="dcterms:W3CDTF">2026-07-24T10:06:18Z</dcterms:created>
  <dcterms:modified xsi:type="dcterms:W3CDTF">2026-07-24T10:06:18Z</dcterms:modified>
</cp:coreProperties>
</file>